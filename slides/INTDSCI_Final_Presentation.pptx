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315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INTDSCI Final Project · De La Salle Lipa · Section C2B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7498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Will Seoul bikes be in High or Low demand this hour?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Classifying hourly bike-sharing demand from weather and calendar data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0233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The Good The Bad The Lodor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Artvincent Abesamis · Ian Lodor · Kurt Tengonciang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The problem: High or Low demand?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42062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Supervised binary classification: predict High (505+ rentals) or Low (under 505) for each hour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Inputs: weather, hour of day, season, holiday and service status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Why it matters: operators can send rebalancing vans before a rush leaves stations empty or full</a:t>
            </a:r>
            <a:endParaRPr lang="en-US" sz="1600" dirty="0"/>
          </a:p>
        </p:txBody>
      </p:sp>
      <p:sp>
        <p:nvSpPr>
          <p:cNvPr id="4" name="stat"/>
          <p:cNvSpPr/>
          <p:nvPr/>
        </p:nvSpPr>
        <p:spPr>
          <a:xfrm>
            <a:off x="5029200" y="1234440"/>
            <a:ext cx="356616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66360" y="130759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8,760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166360" y="189280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hourly records, Dec 2017 to Nov 2018</a:t>
            </a:r>
            <a:endParaRPr lang="en-US" sz="1200" dirty="0"/>
          </a:p>
        </p:txBody>
      </p:sp>
      <p:sp>
        <p:nvSpPr>
          <p:cNvPr id="7" name="stat"/>
          <p:cNvSpPr/>
          <p:nvPr/>
        </p:nvSpPr>
        <p:spPr>
          <a:xfrm>
            <a:off x="5029200" y="2468880"/>
            <a:ext cx="356616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166360" y="254203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505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5166360" y="31272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rentals per hour: the median, our cutoff</a:t>
            </a:r>
            <a:endParaRPr lang="en-US" sz="1200" dirty="0"/>
          </a:p>
        </p:txBody>
      </p:sp>
      <p:sp>
        <p:nvSpPr>
          <p:cNvPr id="10" name="stat"/>
          <p:cNvSpPr/>
          <p:nvPr/>
        </p:nvSpPr>
        <p:spPr>
          <a:xfrm>
            <a:off x="5029200" y="3703320"/>
            <a:ext cx="356616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166360" y="377647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 / 50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5166360" y="436168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4,380 Low and 4,380 High hours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The dataset: 8,760 hours, 14 columns</a:t>
            </a:r>
            <a:endParaRPr lang="en-US" sz="2800" dirty="0"/>
          </a:p>
        </p:txBody>
      </p:sp>
      <p:sp>
        <p:nvSpPr>
          <p:cNvPr id="3" name="group"/>
          <p:cNvSpPr/>
          <p:nvPr/>
        </p:nvSpPr>
        <p:spPr>
          <a:xfrm>
            <a:off x="457200" y="1280160"/>
            <a:ext cx="26517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Date · Hour</a:t>
            </a:r>
            <a:endParaRPr lang="en-US" sz="1400" dirty="0"/>
          </a:p>
        </p:txBody>
      </p:sp>
      <p:sp>
        <p:nvSpPr>
          <p:cNvPr id="6" name="group"/>
          <p:cNvSpPr/>
          <p:nvPr/>
        </p:nvSpPr>
        <p:spPr>
          <a:xfrm>
            <a:off x="3291840" y="1280160"/>
            <a:ext cx="26517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74720" y="1417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Weather (8)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187452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Temperature · Humidity · Wind speed · Visibility · Dew point · Solar radiation · Rainfall · Snowfall</a:t>
            </a:r>
            <a:endParaRPr lang="en-US" sz="1400" dirty="0"/>
          </a:p>
        </p:txBody>
      </p:sp>
      <p:sp>
        <p:nvSpPr>
          <p:cNvPr id="9" name="group"/>
          <p:cNvSpPr/>
          <p:nvPr/>
        </p:nvSpPr>
        <p:spPr>
          <a:xfrm>
            <a:off x="6126480" y="1280160"/>
            <a:ext cx="26517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09360" y="1417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Calendar (3)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187452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Seasons · Holiday · Functioning Day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Target source: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Rented Bike Count (0 to 3,556 per hour) becomes the High/Low label.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206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Source: Sathishkumar &amp; Cho (2020), Seoul Bike Sharing Demand, UCI Machine Learning Repository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Cleaning: before and after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108960"/>
                <a:gridCol w="31089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Check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Before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After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Column names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Spaces, brackets and ° symbols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Clean snake_case names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Date column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Text (str)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datetime64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Missing values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0 (nothing to fix)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Duplicate rows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0 (nothing to drop)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Closed hours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295 hours, all 0 rentals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Kept: closed means Low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Rows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8,760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8,760 (none removed)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Finding 1: demand is skewed</a:t>
            </a:r>
            <a:endParaRPr lang="en-US" sz="2800" dirty="0"/>
          </a:p>
        </p:txBody>
      </p:sp>
      <p:sp>
        <p:nvSpPr>
          <p:cNvPr id="3" name="figcard"/>
          <p:cNvSpPr/>
          <p:nvPr/>
        </p:nvSpPr>
        <p:spPr>
          <a:xfrm>
            <a:off x="457200" y="1188720"/>
            <a:ext cx="539496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4" name="Image 0" descr="eda_target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40560"/>
            <a:ext cx="5120640" cy="2513839"/>
          </a:xfrm>
          <a:prstGeom prst="rect">
            <a:avLst/>
          </a:prstGeom>
        </p:spPr>
      </p:pic>
      <p:sp>
        <p:nvSpPr>
          <p:cNvPr id="5" name="stat"/>
          <p:cNvSpPr/>
          <p:nvPr/>
        </p:nvSpPr>
        <p:spPr>
          <a:xfrm>
            <a:off x="6126480" y="1188720"/>
            <a:ext cx="256032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263640" y="126187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505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6263640" y="18470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rentals per hour: High vs. Low cutoff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126480" y="2468880"/>
            <a:ext cx="2560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Mean 704.6, median 504.5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Skewness 1.15, max 3,556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Median cutoff gives a perfect 50/50 split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Finding 2: two commute peaks</a:t>
            </a:r>
            <a:endParaRPr lang="en-US" sz="2800" dirty="0"/>
          </a:p>
        </p:txBody>
      </p:sp>
      <p:sp>
        <p:nvSpPr>
          <p:cNvPr id="3" name="figcard"/>
          <p:cNvSpPr/>
          <p:nvPr/>
        </p:nvSpPr>
        <p:spPr>
          <a:xfrm>
            <a:off x="457200" y="1188720"/>
            <a:ext cx="539496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4" name="Image 0" descr="eda_hourly_commute_by_sea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569410"/>
            <a:ext cx="5120640" cy="2256141"/>
          </a:xfrm>
          <a:prstGeom prst="rect">
            <a:avLst/>
          </a:prstGeom>
        </p:spPr>
      </p:pic>
      <p:sp>
        <p:nvSpPr>
          <p:cNvPr id="5" name="stat"/>
          <p:cNvSpPr/>
          <p:nvPr/>
        </p:nvSpPr>
        <p:spPr>
          <a:xfrm>
            <a:off x="6126480" y="1188720"/>
            <a:ext cx="256032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263640" y="126187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2,135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6263640" y="18470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average rentals at 6 PM in summer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126480" y="2468880"/>
            <a:ext cx="2560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8 AM: about 1,016 bikes on average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6 PM: about 1,503 on average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Winter never averages above 438 in any hour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Finding 3: rain and closures</a:t>
            </a:r>
            <a:endParaRPr lang="en-US" sz="2800" dirty="0"/>
          </a:p>
        </p:txBody>
      </p:sp>
      <p:sp>
        <p:nvSpPr>
          <p:cNvPr id="3" name="figcard"/>
          <p:cNvSpPr/>
          <p:nvPr/>
        </p:nvSpPr>
        <p:spPr>
          <a:xfrm>
            <a:off x="457200" y="1097280"/>
            <a:ext cx="8229600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4" name="Image 0" descr="eda_weather_impa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066" y="1143000"/>
            <a:ext cx="7591868" cy="2834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160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Median 606 clear, 151 snow, 67 rain · All 295 closed hours: 0 rentals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760720" y="41605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606 → 67  median, clear vs. rain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Features: what the model sees</a:t>
            </a:r>
            <a:endParaRPr lang="en-US" sz="2800" dirty="0"/>
          </a:p>
        </p:txBody>
      </p:sp>
      <p:sp>
        <p:nvSpPr>
          <p:cNvPr id="3" name="step-circle"/>
          <p:cNvSpPr/>
          <p:nvPr/>
        </p:nvSpPr>
        <p:spPr>
          <a:xfrm>
            <a:off x="457200" y="1307592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307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2344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Label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52704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Demand_Class = 1 if rentals ≥ 505, else 0</a:t>
            </a:r>
            <a:endParaRPr lang="en-US" sz="1400" dirty="0"/>
          </a:p>
        </p:txBody>
      </p:sp>
      <p:sp>
        <p:nvSpPr>
          <p:cNvPr id="7" name="step-circle"/>
          <p:cNvSpPr/>
          <p:nvPr/>
        </p:nvSpPr>
        <p:spPr>
          <a:xfrm>
            <a:off x="457200" y="2176272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176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1031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Calendar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3957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Month and DayOfWeek extracted from Date</a:t>
            </a:r>
            <a:endParaRPr lang="en-US" sz="1400" dirty="0"/>
          </a:p>
        </p:txBody>
      </p:sp>
      <p:sp>
        <p:nvSpPr>
          <p:cNvPr id="11" name="step-circle"/>
          <p:cNvSpPr/>
          <p:nvPr/>
        </p:nvSpPr>
        <p:spPr>
          <a:xfrm>
            <a:off x="457200" y="3044952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3044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29718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No leakage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26440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Rented Bike Count and Date dropped from X</a:t>
            </a:r>
            <a:endParaRPr lang="en-US" sz="1400" dirty="0"/>
          </a:p>
        </p:txBody>
      </p:sp>
      <p:sp>
        <p:nvSpPr>
          <p:cNvPr id="15" name="step-circle"/>
          <p:cNvSpPr/>
          <p:nvPr/>
        </p:nvSpPr>
        <p:spPr>
          <a:xfrm>
            <a:off x="457200" y="3913632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913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8404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Scale and encode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413308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StandardScaler on 11 numeric, one-hot on 3 categorical</a:t>
            </a:r>
            <a:endParaRPr lang="en-US" sz="1400" dirty="0"/>
          </a:p>
        </p:txBody>
      </p:sp>
      <p:sp>
        <p:nvSpPr>
          <p:cNvPr id="19" name="stat"/>
          <p:cNvSpPr/>
          <p:nvPr/>
        </p:nvSpPr>
        <p:spPr>
          <a:xfrm>
            <a:off x="5852160" y="1463040"/>
            <a:ext cx="283464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89320" y="153619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→ 16</a:t>
            </a:r>
            <a:endParaRPr lang="en-US" sz="3200" dirty="0"/>
          </a:p>
        </p:txBody>
      </p:sp>
      <p:sp>
        <p:nvSpPr>
          <p:cNvPr id="21" name="Text 19"/>
          <p:cNvSpPr txBox="1"/>
          <p:nvPr/>
        </p:nvSpPr>
        <p:spPr>
          <a:xfrm>
            <a:off x="5989320" y="21214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input features become numeric predictors</a:t>
            </a:r>
            <a:endParaRPr lang="en-US" sz="1200" dirty="0"/>
          </a:p>
        </p:txBody>
      </p:sp>
      <p:sp>
        <p:nvSpPr>
          <p:cNvPr id="22" name="stat"/>
          <p:cNvSpPr/>
          <p:nvPr/>
        </p:nvSpPr>
        <p:spPr>
          <a:xfrm>
            <a:off x="5852160" y="2834640"/>
            <a:ext cx="283464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989320" y="290779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200" dirty="0"/>
          </a:p>
        </p:txBody>
      </p:sp>
      <p:sp>
        <p:nvSpPr>
          <p:cNvPr id="24" name="Text 22"/>
          <p:cNvSpPr txBox="1"/>
          <p:nvPr/>
        </p:nvSpPr>
        <p:spPr>
          <a:xfrm>
            <a:off x="5989320" y="34930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leaks: scaler and encoder fit on train only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Correlation: temperature and hour lead</a:t>
            </a:r>
            <a:endParaRPr lang="en-US" sz="2800" dirty="0"/>
          </a:p>
        </p:txBody>
      </p:sp>
      <p:sp>
        <p:nvSpPr>
          <p:cNvPr id="3" name="figcard"/>
          <p:cNvSpPr/>
          <p:nvPr/>
        </p:nvSpPr>
        <p:spPr>
          <a:xfrm>
            <a:off x="457200" y="1097280"/>
            <a:ext cx="4206240" cy="3611880"/>
          </a:xfrm>
          <a:prstGeom prst="roundRect">
            <a:avLst>
              <a:gd name="adj" fmla="val 30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4" name="Image 0" descr="correlation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207" y="1188720"/>
            <a:ext cx="3826227" cy="3429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937760" y="1234440"/>
            <a:ext cx="3749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Temperature +0.54 and Hour +0.41 are the strongest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Humidity −0.20, snowfall −0.14 and rainfall −0.12 push demand down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Temperature and dew point: r = 0.913 (near duplicates)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Drop-dew-point check: 86.93% vs. 86.99%, one test hour apart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Split and models</a:t>
            </a:r>
            <a:endParaRPr lang="en-US" sz="2800" dirty="0"/>
          </a:p>
        </p:txBody>
      </p:sp>
      <p:sp>
        <p:nvSpPr>
          <p:cNvPr id="3" name="stat"/>
          <p:cNvSpPr/>
          <p:nvPr/>
        </p:nvSpPr>
        <p:spPr>
          <a:xfrm>
            <a:off x="457200" y="1234440"/>
            <a:ext cx="384048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30759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7,008 / 1,752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89280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train / test hours (80/20, random_state=42)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60604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Preprocessing is learned from the training hours only, then applied to the test hours.</a:t>
            </a:r>
            <a:endParaRPr lang="en-US" sz="1400" dirty="0"/>
          </a:p>
        </p:txBody>
      </p:sp>
      <p:sp>
        <p:nvSpPr>
          <p:cNvPr id="7" name="model"/>
          <p:cNvSpPr/>
          <p:nvPr/>
        </p:nvSpPr>
        <p:spPr>
          <a:xfrm>
            <a:off x="4572000" y="1234440"/>
            <a:ext cx="411480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54880" y="13441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754880" y="16916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Always guesses the most common class</a:t>
            </a:r>
            <a:endParaRPr lang="en-US" sz="1400" dirty="0"/>
          </a:p>
        </p:txBody>
      </p:sp>
      <p:sp>
        <p:nvSpPr>
          <p:cNvPr id="10" name="model"/>
          <p:cNvSpPr/>
          <p:nvPr/>
        </p:nvSpPr>
        <p:spPr>
          <a:xfrm>
            <a:off x="4572000" y="2331720"/>
            <a:ext cx="411480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54880" y="24414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27889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Linear, interpretable benchmark</a:t>
            </a:r>
            <a:endParaRPr lang="en-US" sz="1400" dirty="0"/>
          </a:p>
        </p:txBody>
      </p:sp>
      <p:sp>
        <p:nvSpPr>
          <p:cNvPr id="13" name="model"/>
          <p:cNvSpPr/>
          <p:nvPr/>
        </p:nvSpPr>
        <p:spPr>
          <a:xfrm>
            <a:off x="4572000" y="3429000"/>
            <a:ext cx="411480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54880" y="353872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754880" y="38862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100 trees, max depth 16; handles non-linear effects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Random Forest wins: 95.6%</a:t>
            </a:r>
            <a:endParaRPr lang="en-US" sz="2800" dirty="0"/>
          </a:p>
        </p:txBody>
      </p:sp>
      <p:sp>
        <p:nvSpPr>
          <p:cNvPr id="3" name="figcard"/>
          <p:cNvSpPr/>
          <p:nvPr/>
        </p:nvSpPr>
        <p:spPr>
          <a:xfrm>
            <a:off x="457200" y="1097280"/>
            <a:ext cx="822960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4" name="Image 0" descr="confusion_matric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9314" y="1143000"/>
            <a:ext cx="6665373" cy="1828800"/>
          </a:xfrm>
          <a:prstGeom prst="rect">
            <a:avLst/>
          </a:prstGeom>
        </p:spPr>
      </p:pic>
      <p:sp>
        <p:nvSpPr>
          <p:cNvPr id="5" name="stat"/>
          <p:cNvSpPr/>
          <p:nvPr/>
        </p:nvSpPr>
        <p:spPr>
          <a:xfrm>
            <a:off x="457200" y="3246120"/>
            <a:ext cx="265176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33375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49.5%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4023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Baseline · 885 errors</a:t>
            </a:r>
            <a:endParaRPr lang="en-US" sz="1200" dirty="0"/>
          </a:p>
        </p:txBody>
      </p:sp>
      <p:sp>
        <p:nvSpPr>
          <p:cNvPr id="8" name="stat"/>
          <p:cNvSpPr/>
          <p:nvPr/>
        </p:nvSpPr>
        <p:spPr>
          <a:xfrm>
            <a:off x="3291840" y="3246120"/>
            <a:ext cx="265176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474720" y="33375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86.9%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3474720" y="4023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Logistic Regression · 229 errors</a:t>
            </a:r>
            <a:endParaRPr lang="en-US" sz="1200" dirty="0"/>
          </a:p>
        </p:txBody>
      </p:sp>
      <p:sp>
        <p:nvSpPr>
          <p:cNvPr id="11" name="stat"/>
          <p:cNvSpPr/>
          <p:nvPr/>
        </p:nvSpPr>
        <p:spPr>
          <a:xfrm>
            <a:off x="6126480" y="3246120"/>
            <a:ext cx="265176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309360" y="33375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95.6%</a:t>
            </a:r>
            <a:endParaRPr lang="en-US" sz="3600" dirty="0"/>
          </a:p>
        </p:txBody>
      </p:sp>
      <p:sp>
        <p:nvSpPr>
          <p:cNvPr id="13" name="Text 10"/>
          <p:cNvSpPr txBox="1"/>
          <p:nvPr/>
        </p:nvSpPr>
        <p:spPr>
          <a:xfrm>
            <a:off x="6309360" y="4023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Random Forest · 78 errors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Where the Random Forest goes wrong</a:t>
            </a:r>
            <a:endParaRPr lang="en-US" sz="2800" dirty="0"/>
          </a:p>
        </p:txBody>
      </p:sp>
      <p:sp>
        <p:nvSpPr>
          <p:cNvPr id="3" name="figcard"/>
          <p:cNvSpPr/>
          <p:nvPr/>
        </p:nvSpPr>
        <p:spPr>
          <a:xfrm>
            <a:off x="457200" y="1097280"/>
            <a:ext cx="402336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4" name="Image 0" descr="feature_importanc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371"/>
            <a:ext cx="3840480" cy="2103258"/>
          </a:xfrm>
          <a:prstGeom prst="rect">
            <a:avLst/>
          </a:prstGeom>
        </p:spPr>
      </p:pic>
      <p:sp>
        <p:nvSpPr>
          <p:cNvPr id="5" name="figcard"/>
          <p:cNvSpPr/>
          <p:nvPr/>
        </p:nvSpPr>
        <p:spPr>
          <a:xfrm>
            <a:off x="4663440" y="1097280"/>
            <a:ext cx="402336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6" name="Image 1" descr="error_by_hou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534828"/>
            <a:ext cx="3840480" cy="150234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36576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Top drivers: Hour (20.7%), Temperature (17.6%), Humidity (9.4%)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54 of 78 errors are within 150 rentals of the cutoff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Error rate is 3.5% to 5.1% in every season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Limits and takeaways</a:t>
            </a:r>
            <a:endParaRPr lang="en-US" sz="2800" dirty="0"/>
          </a:p>
        </p:txBody>
      </p:sp>
      <p:sp>
        <p:nvSpPr>
          <p:cNvPr id="3" name="col"/>
          <p:cNvSpPr/>
          <p:nvPr/>
        </p:nvSpPr>
        <p:spPr>
          <a:xfrm>
            <a:off x="457200" y="1188720"/>
            <a:ext cx="4023360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ol"/>
          <p:cNvSpPr/>
          <p:nvPr/>
        </p:nvSpPr>
        <p:spPr>
          <a:xfrm>
            <a:off x="4663440" y="1188720"/>
            <a:ext cx="4023360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2880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Past-to-future split: Random Forest drops to 85.1% (Logistic 86.1%)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System-wide totals only, no station detail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2017 to 2018 data, one city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84632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Takeaways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82880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Hour, temperature and weather predict demand well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Random Forest beats Logistic Regression by 8.6 points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Remaining errors sit near the 505 cutoff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oul Bike">
  <a:themeElements>
    <a:clrScheme name="Seoul Bike">
      <a:dk1>
        <a:srgbClr val="1B2B2A"/>
      </a:dk1>
      <a:lt1>
        <a:srgbClr val="FFFFFF"/>
      </a:lt1>
      <a:dk2>
        <a:srgbClr val="0F3D3E"/>
      </a:dk2>
      <a:lt2>
        <a:srgbClr val="EEF3F1"/>
      </a:lt2>
      <a:accent1>
        <a:srgbClr val="E8590C"/>
      </a:accent1>
      <a:accent2>
        <a:srgbClr val="2A9D8F"/>
      </a:accent2>
      <a:accent3>
        <a:srgbClr val="F2A541"/>
      </a:accent3>
      <a:accent4>
        <a:srgbClr val="5B6C6A"/>
      </a:accent4>
      <a:accent5>
        <a:srgbClr val="B23A48"/>
      </a:accent5>
      <a:accent6>
        <a:srgbClr val="7FB069"/>
      </a:accent6>
      <a:hlink>
        <a:srgbClr val="2A9D8F"/>
      </a:hlink>
      <a:folHlink>
        <a:srgbClr val="5B6C6A"/>
      </a:folHlink>
    </a:clrScheme>
    <a:fontScheme name="Seoul Bik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INTDSCI Final: Seoul Bike Demand</dc:title>
  <dc:subject>PptxGenJS Presentation</dc:subject>
  <dc:creator>The Good The Bad The Lodor</dc:creator>
  <cp:lastModifiedBy>The Good The Bad The Lodor</cp:lastModifiedBy>
  <cp:revision>1</cp:revision>
  <dcterms:created xsi:type="dcterms:W3CDTF">2026-10-28T21:21:08Z</dcterms:created>
  <dcterms:modified xsi:type="dcterms:W3CDTF">2026-10-28T21:21:08Z</dcterms:modified>
</cp:coreProperties>
</file>